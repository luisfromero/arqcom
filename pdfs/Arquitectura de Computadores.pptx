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60" r:id="rId4"/>
  </p:sldMasterIdLst>
  <p:sldIdLst>
    <p:sldId id="256" r:id="rId5"/>
    <p:sldId id="257" r:id="rId6"/>
    <p:sldId id="259" r:id="rId7"/>
    <p:sldId id="258" r:id="rId8"/>
    <p:sldId id="264" r:id="rId9"/>
    <p:sldId id="266" r:id="rId10"/>
    <p:sldId id="265" r:id="rId11"/>
    <p:sldId id="260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F600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1248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uis Felipe Romero" userId="a68c3b35-3f81-40e2-b356-0db0b132b71b" providerId="ADAL" clId="{7E6696D6-E27B-453E-8512-AD5D6829E589}"/>
    <pc:docChg chg="custSel addSld modSld">
      <pc:chgData name="Luis Felipe Romero" userId="a68c3b35-3f81-40e2-b356-0db0b132b71b" providerId="ADAL" clId="{7E6696D6-E27B-453E-8512-AD5D6829E589}" dt="2026-09-10T06:54:27.174" v="548" actId="1076"/>
      <pc:docMkLst>
        <pc:docMk/>
      </pc:docMkLst>
      <pc:sldChg chg="modSp mod">
        <pc:chgData name="Luis Felipe Romero" userId="a68c3b35-3f81-40e2-b356-0db0b132b71b" providerId="ADAL" clId="{7E6696D6-E27B-453E-8512-AD5D6829E589}" dt="2026-09-10T06:20:31.371" v="2" actId="20577"/>
        <pc:sldMkLst>
          <pc:docMk/>
          <pc:sldMk cId="3420325496" sldId="256"/>
        </pc:sldMkLst>
        <pc:spChg chg="mod">
          <ac:chgData name="Luis Felipe Romero" userId="a68c3b35-3f81-40e2-b356-0db0b132b71b" providerId="ADAL" clId="{7E6696D6-E27B-453E-8512-AD5D6829E589}" dt="2026-09-10T06:20:31.371" v="2" actId="20577"/>
          <ac:spMkLst>
            <pc:docMk/>
            <pc:sldMk cId="3420325496" sldId="256"/>
            <ac:spMk id="3" creationId="{00000000-0000-0000-0000-000000000000}"/>
          </ac:spMkLst>
        </pc:spChg>
      </pc:sldChg>
      <pc:sldChg chg="addSp delSp modSp mod">
        <pc:chgData name="Luis Felipe Romero" userId="a68c3b35-3f81-40e2-b356-0db0b132b71b" providerId="ADAL" clId="{7E6696D6-E27B-453E-8512-AD5D6829E589}" dt="2026-09-10T06:34:49.974" v="41" actId="20577"/>
        <pc:sldMkLst>
          <pc:docMk/>
          <pc:sldMk cId="625546087" sldId="257"/>
        </pc:sldMkLst>
        <pc:spChg chg="add mod">
          <ac:chgData name="Luis Felipe Romero" userId="a68c3b35-3f81-40e2-b356-0db0b132b71b" providerId="ADAL" clId="{7E6696D6-E27B-453E-8512-AD5D6829E589}" dt="2026-09-10T06:34:49.974" v="41" actId="20577"/>
          <ac:spMkLst>
            <pc:docMk/>
            <pc:sldMk cId="625546087" sldId="257"/>
            <ac:spMk id="5" creationId="{E2FAE8E7-3B75-42DA-8859-49B3B4D97924}"/>
          </ac:spMkLst>
        </pc:spChg>
        <pc:picChg chg="del">
          <ac:chgData name="Luis Felipe Romero" userId="a68c3b35-3f81-40e2-b356-0db0b132b71b" providerId="ADAL" clId="{7E6696D6-E27B-453E-8512-AD5D6829E589}" dt="2026-09-10T06:34:20.727" v="26" actId="478"/>
          <ac:picMkLst>
            <pc:docMk/>
            <pc:sldMk cId="625546087" sldId="257"/>
            <ac:picMk id="2" creationId="{F40CDFC2-0D01-40F1-B9F3-67C69E3E47D2}"/>
          </ac:picMkLst>
        </pc:picChg>
        <pc:picChg chg="add mod">
          <ac:chgData name="Luis Felipe Romero" userId="a68c3b35-3f81-40e2-b356-0db0b132b71b" providerId="ADAL" clId="{7E6696D6-E27B-453E-8512-AD5D6829E589}" dt="2026-09-10T06:34:29.720" v="28" actId="1076"/>
          <ac:picMkLst>
            <pc:docMk/>
            <pc:sldMk cId="625546087" sldId="257"/>
            <ac:picMk id="4" creationId="{37F48B78-60AB-497B-90C2-5C87950910E1}"/>
          </ac:picMkLst>
        </pc:picChg>
      </pc:sldChg>
      <pc:sldChg chg="addSp delSp modSp mod">
        <pc:chgData name="Luis Felipe Romero" userId="a68c3b35-3f81-40e2-b356-0db0b132b71b" providerId="ADAL" clId="{7E6696D6-E27B-453E-8512-AD5D6829E589}" dt="2026-09-10T06:28:26.879" v="7" actId="1076"/>
        <pc:sldMkLst>
          <pc:docMk/>
          <pc:sldMk cId="658904648" sldId="258"/>
        </pc:sldMkLst>
        <pc:picChg chg="del">
          <ac:chgData name="Luis Felipe Romero" userId="a68c3b35-3f81-40e2-b356-0db0b132b71b" providerId="ADAL" clId="{7E6696D6-E27B-453E-8512-AD5D6829E589}" dt="2026-09-10T06:28:15.709" v="4" actId="478"/>
          <ac:picMkLst>
            <pc:docMk/>
            <pc:sldMk cId="658904648" sldId="258"/>
            <ac:picMk id="3" creationId="{6A2F4799-A950-4F1C-BC13-02D194CDD79D}"/>
          </ac:picMkLst>
        </pc:picChg>
        <pc:picChg chg="add mod">
          <ac:chgData name="Luis Felipe Romero" userId="a68c3b35-3f81-40e2-b356-0db0b132b71b" providerId="ADAL" clId="{7E6696D6-E27B-453E-8512-AD5D6829E589}" dt="2026-09-10T06:28:26.879" v="7" actId="1076"/>
          <ac:picMkLst>
            <pc:docMk/>
            <pc:sldMk cId="658904648" sldId="258"/>
            <ac:picMk id="6" creationId="{3FAE1DC8-9FB2-4AD5-A4E5-4AD5CEB3E9FB}"/>
          </ac:picMkLst>
        </pc:picChg>
      </pc:sldChg>
      <pc:sldChg chg="modSp mod">
        <pc:chgData name="Luis Felipe Romero" userId="a68c3b35-3f81-40e2-b356-0db0b132b71b" providerId="ADAL" clId="{7E6696D6-E27B-453E-8512-AD5D6829E589}" dt="2026-09-10T06:30:18.076" v="24" actId="20577"/>
        <pc:sldMkLst>
          <pc:docMk/>
          <pc:sldMk cId="3430462956" sldId="262"/>
        </pc:sldMkLst>
        <pc:spChg chg="mod">
          <ac:chgData name="Luis Felipe Romero" userId="a68c3b35-3f81-40e2-b356-0db0b132b71b" providerId="ADAL" clId="{7E6696D6-E27B-453E-8512-AD5D6829E589}" dt="2026-09-10T06:30:18.076" v="24" actId="20577"/>
          <ac:spMkLst>
            <pc:docMk/>
            <pc:sldMk cId="3430462956" sldId="262"/>
            <ac:spMk id="3" creationId="{00000000-0000-0000-0000-000000000000}"/>
          </ac:spMkLst>
        </pc:spChg>
      </pc:sldChg>
      <pc:sldChg chg="modSp mod">
        <pc:chgData name="Luis Felipe Romero" userId="a68c3b35-3f81-40e2-b356-0db0b132b71b" providerId="ADAL" clId="{7E6696D6-E27B-453E-8512-AD5D6829E589}" dt="2026-09-10T06:53:52.220" v="541" actId="1076"/>
        <pc:sldMkLst>
          <pc:docMk/>
          <pc:sldMk cId="2495430306" sldId="264"/>
        </pc:sldMkLst>
        <pc:picChg chg="mod modCrop">
          <ac:chgData name="Luis Felipe Romero" userId="a68c3b35-3f81-40e2-b356-0db0b132b71b" providerId="ADAL" clId="{7E6696D6-E27B-453E-8512-AD5D6829E589}" dt="2026-09-10T06:53:52.220" v="541" actId="1076"/>
          <ac:picMkLst>
            <pc:docMk/>
            <pc:sldMk cId="2495430306" sldId="264"/>
            <ac:picMk id="3" creationId="{18B6B8DE-C4D2-4FDF-BB6D-D981B0846295}"/>
          </ac:picMkLst>
        </pc:picChg>
      </pc:sldChg>
      <pc:sldChg chg="addSp modSp new mod chgLayout">
        <pc:chgData name="Luis Felipe Romero" userId="a68c3b35-3f81-40e2-b356-0db0b132b71b" providerId="ADAL" clId="{7E6696D6-E27B-453E-8512-AD5D6829E589}" dt="2026-09-10T06:52:24.709" v="531" actId="20577"/>
        <pc:sldMkLst>
          <pc:docMk/>
          <pc:sldMk cId="1495471381" sldId="265"/>
        </pc:sldMkLst>
        <pc:spChg chg="mod ord">
          <ac:chgData name="Luis Felipe Romero" userId="a68c3b35-3f81-40e2-b356-0db0b132b71b" providerId="ADAL" clId="{7E6696D6-E27B-453E-8512-AD5D6829E589}" dt="2026-09-10T06:41:03.296" v="81" actId="700"/>
          <ac:spMkLst>
            <pc:docMk/>
            <pc:sldMk cId="1495471381" sldId="265"/>
            <ac:spMk id="2" creationId="{44CD1AC7-1036-4631-96D7-3915C8D3A0B3}"/>
          </ac:spMkLst>
        </pc:spChg>
        <pc:spChg chg="add mod ord">
          <ac:chgData name="Luis Felipe Romero" userId="a68c3b35-3f81-40e2-b356-0db0b132b71b" providerId="ADAL" clId="{7E6696D6-E27B-453E-8512-AD5D6829E589}" dt="2026-09-10T06:52:24.709" v="531" actId="20577"/>
          <ac:spMkLst>
            <pc:docMk/>
            <pc:sldMk cId="1495471381" sldId="265"/>
            <ac:spMk id="3" creationId="{FB128483-14E0-419D-A99C-5B612375638C}"/>
          </ac:spMkLst>
        </pc:spChg>
      </pc:sldChg>
      <pc:sldChg chg="modSp add mod">
        <pc:chgData name="Luis Felipe Romero" userId="a68c3b35-3f81-40e2-b356-0db0b132b71b" providerId="ADAL" clId="{7E6696D6-E27B-453E-8512-AD5D6829E589}" dt="2026-09-10T06:54:27.174" v="548" actId="1076"/>
        <pc:sldMkLst>
          <pc:docMk/>
          <pc:sldMk cId="4022057110" sldId="266"/>
        </pc:sldMkLst>
        <pc:picChg chg="mod modCrop">
          <ac:chgData name="Luis Felipe Romero" userId="a68c3b35-3f81-40e2-b356-0db0b132b71b" providerId="ADAL" clId="{7E6696D6-E27B-453E-8512-AD5D6829E589}" dt="2026-09-10T06:54:27.174" v="548" actId="1076"/>
          <ac:picMkLst>
            <pc:docMk/>
            <pc:sldMk cId="4022057110" sldId="266"/>
            <ac:picMk id="3" creationId="{18B6B8DE-C4D2-4FDF-BB6D-D981B084629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Marcador de contenido"/>
          <p:cNvSpPr>
            <a:spLocks noGrp="1"/>
          </p:cNvSpPr>
          <p:nvPr>
            <p:ph sz="half" idx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2" name="11 Marcador de contenido"/>
          <p:cNvSpPr>
            <a:spLocks noGrp="1"/>
          </p:cNvSpPr>
          <p:nvPr>
            <p:ph sz="half" idx="2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Rectángulo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3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23 Marcador de contenido"/>
          <p:cNvSpPr>
            <a:spLocks noGrp="1"/>
          </p:cNvSpPr>
          <p:nvPr>
            <p:ph sz="quarter" idx="2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6" name="25 Marcador de contenido"/>
          <p:cNvSpPr>
            <a:spLocks noGrp="1"/>
          </p:cNvSpPr>
          <p:nvPr>
            <p:ph sz="quarter" idx="4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25" name="24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26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23" name="22 Título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5 Rectángulo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18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12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19 Marcador de contenido"/>
          <p:cNvSpPr>
            <a:spLocks noGrp="1"/>
          </p:cNvSpPr>
          <p:nvPr>
            <p:ph sz="quarter" idx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10" name="9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21" name="20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20 Conector recto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19 Rectángulo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s-ES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</p:txBody>
      </p:sp>
      <p:sp>
        <p:nvSpPr>
          <p:cNvPr id="22" name="21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vertical y tex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9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10 Rectángulo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es-ES"/>
              <a:t>Haga clic para modificar el estilo de texto del patrón</a:t>
            </a:r>
          </a:p>
          <a:p>
            <a:pPr lvl="1" eaLnBrk="1" latinLnBrk="0" hangingPunct="1"/>
            <a:r>
              <a:rPr lang="es-ES"/>
              <a:t>Segundo nivel</a:t>
            </a:r>
          </a:p>
          <a:p>
            <a:pPr lvl="2" eaLnBrk="1" latinLnBrk="0" hangingPunct="1"/>
            <a:r>
              <a:rPr lang="es-ES"/>
              <a:t>Tercer nivel</a:t>
            </a:r>
          </a:p>
          <a:p>
            <a:pPr lvl="3" eaLnBrk="1" latinLnBrk="0" hangingPunct="1"/>
            <a:r>
              <a:rPr lang="es-ES"/>
              <a:t>Cuarto nivel</a:t>
            </a:r>
          </a:p>
          <a:p>
            <a:pPr lvl="4" eaLnBrk="1" latinLnBrk="0" hangingPunct="1"/>
            <a:r>
              <a:rPr lang="es-ES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16 Rectángulo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15 Rectángulo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17 Rectángulo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18 Rectángulo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8 Rectángulo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B49C5F12-59B6-43D8-97EC-004E96E23D61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7 Rectángulo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14 Elipse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DC454242-75E6-487A-B2D9-D87073B25A21}" type="slidenum">
              <a:rPr lang="en-US" smtClean="0"/>
              <a:t>‹Nº›</a:t>
            </a:fld>
            <a:endParaRPr lang="en-US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/>
              <a:t>Haga clic para modificar el estilo de texto del patrón</a:t>
            </a:r>
          </a:p>
          <a:p>
            <a:pPr lvl="1" eaLnBrk="1" latinLnBrk="0" hangingPunct="1"/>
            <a:r>
              <a:rPr kumimoji="0" lang="es-ES"/>
              <a:t>Segundo nivel</a:t>
            </a:r>
          </a:p>
          <a:p>
            <a:pPr lvl="2" eaLnBrk="1" latinLnBrk="0" hangingPunct="1"/>
            <a:r>
              <a:rPr kumimoji="0" lang="es-ES"/>
              <a:t>Tercer nivel</a:t>
            </a:r>
          </a:p>
          <a:p>
            <a:pPr lvl="3" eaLnBrk="1" latinLnBrk="0" hangingPunct="1"/>
            <a:r>
              <a:rPr kumimoji="0" lang="es-ES"/>
              <a:t>Cuarto nivel</a:t>
            </a:r>
          </a:p>
          <a:p>
            <a:pPr lvl="4" eaLnBrk="1" latinLnBrk="0" hangingPunct="1"/>
            <a:r>
              <a:rPr kumimoji="0" lang="es-ES"/>
              <a:t>Quinto nivel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uisfromero/arqcom" TargetMode="External"/><Relationship Id="rId2" Type="http://schemas.openxmlformats.org/officeDocument/2006/relationships/hyperlink" Target="https://eii.cv.uma.es/course/view.php?id=193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mailto:felipe@uma.es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403648" y="1988840"/>
            <a:ext cx="6400800" cy="3384376"/>
          </a:xfrm>
        </p:spPr>
        <p:txBody>
          <a:bodyPr>
            <a:normAutofit fontScale="32500" lnSpcReduction="20000"/>
          </a:bodyPr>
          <a:lstStyle/>
          <a:p>
            <a:r>
              <a:rPr lang="en-US" sz="2500" dirty="0"/>
              <a:t>© Luis Felipe Romero  </a:t>
            </a:r>
            <a:r>
              <a:rPr lang="en-US" sz="2500" dirty="0" err="1"/>
              <a:t>curso</a:t>
            </a:r>
            <a:r>
              <a:rPr lang="en-US" sz="2500" dirty="0"/>
              <a:t> 26/27</a:t>
            </a:r>
          </a:p>
          <a:p>
            <a:endParaRPr lang="en-US" dirty="0"/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r>
              <a:rPr lang="en-US" sz="3500" dirty="0" err="1">
                <a:solidFill>
                  <a:schemeClr val="tx1"/>
                </a:solidFill>
              </a:rPr>
              <a:t>Organización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interna</a:t>
            </a:r>
            <a:r>
              <a:rPr lang="en-US" sz="3500" dirty="0">
                <a:solidFill>
                  <a:schemeClr val="tx1"/>
                </a:solidFill>
              </a:rPr>
              <a:t> de los </a:t>
            </a:r>
            <a:r>
              <a:rPr lang="en-US" sz="3500" dirty="0" err="1">
                <a:solidFill>
                  <a:schemeClr val="tx1"/>
                </a:solidFill>
              </a:rPr>
              <a:t>procesadores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modernos</a:t>
            </a:r>
            <a:r>
              <a:rPr lang="en-US" sz="3500" dirty="0">
                <a:solidFill>
                  <a:schemeClr val="tx1"/>
                </a:solidFill>
              </a:rPr>
              <a:t>: Multicore CPU y GPU</a:t>
            </a: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r>
              <a:rPr lang="en-US" sz="3500" dirty="0" err="1">
                <a:solidFill>
                  <a:schemeClr val="tx1"/>
                </a:solidFill>
              </a:rPr>
              <a:t>Organización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jerárquica</a:t>
            </a:r>
            <a:r>
              <a:rPr lang="en-US" sz="3500" dirty="0">
                <a:solidFill>
                  <a:schemeClr val="tx1"/>
                </a:solidFill>
              </a:rPr>
              <a:t> de la </a:t>
            </a:r>
            <a:r>
              <a:rPr lang="en-US" sz="3500" dirty="0" err="1">
                <a:solidFill>
                  <a:schemeClr val="tx1"/>
                </a:solidFill>
              </a:rPr>
              <a:t>memoria</a:t>
            </a:r>
            <a:r>
              <a:rPr lang="en-US" sz="3500" dirty="0">
                <a:solidFill>
                  <a:schemeClr val="tx1"/>
                </a:solidFill>
              </a:rPr>
              <a:t>: cache</a:t>
            </a: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r>
              <a:rPr lang="en-US" sz="3500" dirty="0" err="1">
                <a:solidFill>
                  <a:schemeClr val="tx1"/>
                </a:solidFill>
              </a:rPr>
              <a:t>Paralelismo</a:t>
            </a:r>
            <a:r>
              <a:rPr lang="en-US" sz="3500" dirty="0">
                <a:solidFill>
                  <a:schemeClr val="tx1"/>
                </a:solidFill>
              </a:rPr>
              <a:t> y </a:t>
            </a:r>
            <a:r>
              <a:rPr lang="en-US" sz="3500" dirty="0" err="1">
                <a:solidFill>
                  <a:schemeClr val="tx1"/>
                </a:solidFill>
              </a:rPr>
              <a:t>optimización</a:t>
            </a:r>
            <a:r>
              <a:rPr lang="en-US" sz="3500" dirty="0">
                <a:solidFill>
                  <a:schemeClr val="tx1"/>
                </a:solidFill>
              </a:rPr>
              <a:t> de </a:t>
            </a:r>
            <a:r>
              <a:rPr lang="en-US" sz="3500" dirty="0" err="1">
                <a:solidFill>
                  <a:schemeClr val="tx1"/>
                </a:solidFill>
              </a:rPr>
              <a:t>códigos</a:t>
            </a:r>
            <a:r>
              <a:rPr lang="en-US" sz="3500" dirty="0">
                <a:solidFill>
                  <a:schemeClr val="tx1"/>
                </a:solidFill>
              </a:rPr>
              <a:t>: </a:t>
            </a:r>
            <a:r>
              <a:rPr lang="en-US" sz="3500" dirty="0" err="1">
                <a:solidFill>
                  <a:schemeClr val="tx1"/>
                </a:solidFill>
              </a:rPr>
              <a:t>Mejora</a:t>
            </a:r>
            <a:r>
              <a:rPr lang="en-US" sz="3500" dirty="0">
                <a:solidFill>
                  <a:schemeClr val="tx1"/>
                </a:solidFill>
              </a:rPr>
              <a:t> del </a:t>
            </a:r>
            <a:r>
              <a:rPr lang="en-US" sz="3500" dirty="0" err="1">
                <a:solidFill>
                  <a:schemeClr val="tx1"/>
                </a:solidFill>
              </a:rPr>
              <a:t>rendimiento</a:t>
            </a:r>
            <a:r>
              <a:rPr lang="en-US" sz="3500" dirty="0">
                <a:solidFill>
                  <a:schemeClr val="tx1"/>
                </a:solidFill>
              </a:rPr>
              <a:t> del Software y </a:t>
            </a:r>
            <a:r>
              <a:rPr lang="en-US" sz="3500" dirty="0" err="1">
                <a:solidFill>
                  <a:schemeClr val="tx1"/>
                </a:solidFill>
              </a:rPr>
              <a:t>máximo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aprovechamiento</a:t>
            </a:r>
            <a:r>
              <a:rPr lang="en-US" sz="3500" dirty="0">
                <a:solidFill>
                  <a:schemeClr val="tx1"/>
                </a:solidFill>
              </a:rPr>
              <a:t> del Hardware</a:t>
            </a:r>
          </a:p>
          <a:p>
            <a:pPr algn="l"/>
            <a:endParaRPr lang="en-US" sz="3500" dirty="0">
              <a:solidFill>
                <a:schemeClr val="tx1"/>
              </a:solidFill>
            </a:endParaRPr>
          </a:p>
          <a:p>
            <a:pPr algn="l"/>
            <a:r>
              <a:rPr lang="en-US" sz="3500" dirty="0" err="1">
                <a:solidFill>
                  <a:schemeClr val="tx1"/>
                </a:solidFill>
              </a:rPr>
              <a:t>Arquitecturas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embebidas</a:t>
            </a:r>
            <a:r>
              <a:rPr lang="en-US" sz="3500" dirty="0">
                <a:solidFill>
                  <a:schemeClr val="tx1"/>
                </a:solidFill>
              </a:rPr>
              <a:t>: </a:t>
            </a:r>
            <a:r>
              <a:rPr lang="en-US" sz="3500" dirty="0" err="1">
                <a:solidFill>
                  <a:schemeClr val="tx1"/>
                </a:solidFill>
              </a:rPr>
              <a:t>Dispositivos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móviles</a:t>
            </a:r>
            <a:r>
              <a:rPr lang="en-US" sz="3500" dirty="0">
                <a:solidFill>
                  <a:schemeClr val="tx1"/>
                </a:solidFill>
              </a:rPr>
              <a:t> y </a:t>
            </a:r>
            <a:r>
              <a:rPr lang="en-US" sz="3500" dirty="0" err="1">
                <a:solidFill>
                  <a:schemeClr val="tx1"/>
                </a:solidFill>
              </a:rPr>
              <a:t>ubicuos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para</a:t>
            </a:r>
            <a:r>
              <a:rPr lang="en-US" sz="3500" dirty="0">
                <a:solidFill>
                  <a:schemeClr val="tx1"/>
                </a:solidFill>
              </a:rPr>
              <a:t> </a:t>
            </a:r>
            <a:r>
              <a:rPr lang="en-US" sz="3500" dirty="0" err="1">
                <a:solidFill>
                  <a:schemeClr val="tx1"/>
                </a:solidFill>
              </a:rPr>
              <a:t>computación</a:t>
            </a:r>
            <a:r>
              <a:rPr lang="en-US" sz="3500" dirty="0">
                <a:solidFill>
                  <a:schemeClr val="tx1"/>
                </a:solidFill>
              </a:rPr>
              <a:t> industrial</a:t>
            </a:r>
          </a:p>
          <a:p>
            <a:endParaRPr lang="en-US" sz="3500" dirty="0">
              <a:solidFill>
                <a:schemeClr val="tx1"/>
              </a:solidFill>
            </a:endParaRPr>
          </a:p>
        </p:txBody>
      </p:sp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3568" y="404664"/>
            <a:ext cx="7772400" cy="1470025"/>
          </a:xfrm>
        </p:spPr>
        <p:txBody>
          <a:bodyPr>
            <a:normAutofit/>
          </a:bodyPr>
          <a:lstStyle/>
          <a:p>
            <a:r>
              <a:rPr lang="en-US" dirty="0" err="1"/>
              <a:t>Arquitectura</a:t>
            </a:r>
            <a:r>
              <a:rPr lang="en-US" dirty="0"/>
              <a:t> de </a:t>
            </a:r>
            <a:r>
              <a:rPr lang="en-US" dirty="0" err="1"/>
              <a:t>Computadores</a:t>
            </a:r>
            <a:br>
              <a:rPr lang="en-US" dirty="0"/>
            </a:br>
            <a:r>
              <a:rPr lang="en-US" sz="2000" dirty="0" err="1"/>
              <a:t>Ingeniería</a:t>
            </a:r>
            <a:r>
              <a:rPr lang="en-US" sz="2000" dirty="0"/>
              <a:t> en </a:t>
            </a:r>
            <a:r>
              <a:rPr lang="en-US" sz="2000" dirty="0" err="1"/>
              <a:t>Tecnologías</a:t>
            </a:r>
            <a:r>
              <a:rPr lang="en-US" sz="2000" dirty="0"/>
              <a:t> </a:t>
            </a:r>
            <a:r>
              <a:rPr lang="en-US" sz="2000" dirty="0" err="1"/>
              <a:t>Industriales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03254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37F48B78-60AB-497B-90C2-5C8795091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545" y="1628800"/>
            <a:ext cx="8144909" cy="4596243"/>
          </a:xfrm>
          <a:prstGeom prst="rect">
            <a:avLst/>
          </a:prstGeom>
        </p:spPr>
      </p:pic>
      <p:sp>
        <p:nvSpPr>
          <p:cNvPr id="5" name="1 Título">
            <a:extLst>
              <a:ext uri="{FF2B5EF4-FFF2-40B4-BE49-F238E27FC236}">
                <a16:creationId xmlns:a16="http://schemas.microsoft.com/office/drawing/2014/main" id="{E2FAE8E7-3B75-42DA-8859-49B3B4D97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lang="en-US" dirty="0" err="1"/>
              <a:t>Guía</a:t>
            </a:r>
            <a:r>
              <a:rPr lang="en-US" dirty="0"/>
              <a:t> </a:t>
            </a:r>
            <a:r>
              <a:rPr lang="en-US" dirty="0" err="1"/>
              <a:t>docente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5460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Programa</a:t>
            </a:r>
            <a:endParaRPr lang="en-US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b="1" dirty="0" err="1"/>
              <a:t>Arquitectura</a:t>
            </a:r>
            <a:r>
              <a:rPr lang="en-US" b="1" dirty="0"/>
              <a:t> del </a:t>
            </a:r>
            <a:r>
              <a:rPr lang="en-US" b="1" dirty="0" err="1"/>
              <a:t>procesador</a:t>
            </a:r>
            <a:r>
              <a:rPr lang="en-US" b="1" dirty="0"/>
              <a:t> </a:t>
            </a:r>
          </a:p>
          <a:p>
            <a:pPr lvl="1"/>
            <a:r>
              <a:rPr lang="en-US" dirty="0" err="1"/>
              <a:t>Tema</a:t>
            </a:r>
            <a:r>
              <a:rPr lang="en-US" dirty="0"/>
              <a:t> 1: </a:t>
            </a:r>
            <a:r>
              <a:rPr lang="en-US" dirty="0" err="1"/>
              <a:t>Introducción</a:t>
            </a:r>
            <a:r>
              <a:rPr lang="en-US" dirty="0"/>
              <a:t>. </a:t>
            </a:r>
          </a:p>
          <a:p>
            <a:pPr lvl="2"/>
            <a:r>
              <a:rPr lang="en-US" dirty="0" err="1"/>
              <a:t>Rendimiento</a:t>
            </a:r>
            <a:r>
              <a:rPr lang="en-US" dirty="0"/>
              <a:t> de los </a:t>
            </a:r>
            <a:r>
              <a:rPr lang="en-US" dirty="0" err="1"/>
              <a:t>Computadores</a:t>
            </a:r>
            <a:r>
              <a:rPr lang="en-US" dirty="0"/>
              <a:t>.</a:t>
            </a:r>
          </a:p>
          <a:p>
            <a:pPr lvl="1"/>
            <a:r>
              <a:rPr lang="es-ES" dirty="0"/>
              <a:t>Tema 2. Procesadores Segmentados.</a:t>
            </a:r>
          </a:p>
          <a:p>
            <a:pPr lvl="2"/>
            <a:r>
              <a:rPr lang="es-ES" dirty="0"/>
              <a:t>Soluciones básicas a los problemas de la segmentación</a:t>
            </a:r>
          </a:p>
          <a:p>
            <a:pPr lvl="1"/>
            <a:r>
              <a:rPr lang="en-US" dirty="0" err="1"/>
              <a:t>Tema</a:t>
            </a:r>
            <a:r>
              <a:rPr lang="en-US" dirty="0"/>
              <a:t> 3. </a:t>
            </a:r>
            <a:r>
              <a:rPr lang="en-US" dirty="0" err="1"/>
              <a:t>Anticipación</a:t>
            </a:r>
            <a:endParaRPr lang="en-US" dirty="0"/>
          </a:p>
          <a:p>
            <a:pPr lvl="2"/>
            <a:r>
              <a:rPr lang="en-US" dirty="0" err="1"/>
              <a:t>Soluciones</a:t>
            </a:r>
            <a:r>
              <a:rPr lang="en-US" dirty="0"/>
              <a:t> hardware</a:t>
            </a:r>
          </a:p>
          <a:p>
            <a:pPr lvl="1"/>
            <a:r>
              <a:rPr lang="es-ES" dirty="0"/>
              <a:t>Tema 4. Segmentación avanzada</a:t>
            </a:r>
          </a:p>
          <a:p>
            <a:pPr lvl="2"/>
            <a:r>
              <a:rPr lang="es-ES" dirty="0"/>
              <a:t>Planificación dinámica: ejecución fuera de orden. Predicción de saltos: estática y dinámica. Repercusión en el rendimiento. </a:t>
            </a:r>
          </a:p>
          <a:p>
            <a:pPr lvl="1"/>
            <a:r>
              <a:rPr lang="es-ES" dirty="0"/>
              <a:t>Tema 5. </a:t>
            </a:r>
          </a:p>
          <a:p>
            <a:pPr lvl="2"/>
            <a:r>
              <a:rPr lang="es-ES" dirty="0"/>
              <a:t>procesadores </a:t>
            </a:r>
            <a:r>
              <a:rPr lang="es-ES" dirty="0" err="1"/>
              <a:t>superescalares</a:t>
            </a:r>
            <a:r>
              <a:rPr lang="es-ES" dirty="0"/>
              <a:t>. Concepto de paralelismo a nivel de instrucción y a nivel de máquina.</a:t>
            </a:r>
          </a:p>
          <a:p>
            <a:pPr lvl="2"/>
            <a:r>
              <a:rPr lang="es-ES" dirty="0"/>
              <a:t>Procesadores VLIW. Qué es un procesador VLIW. Arquitectura.</a:t>
            </a:r>
          </a:p>
          <a:p>
            <a:r>
              <a:rPr lang="en-US" b="1" dirty="0" err="1"/>
              <a:t>Arquitectura</a:t>
            </a:r>
            <a:r>
              <a:rPr lang="en-US" b="1" dirty="0"/>
              <a:t> de la </a:t>
            </a:r>
            <a:r>
              <a:rPr lang="en-US" b="1" dirty="0" err="1"/>
              <a:t>memoria</a:t>
            </a:r>
            <a:endParaRPr lang="en-US" b="1" dirty="0"/>
          </a:p>
          <a:p>
            <a:pPr lvl="1"/>
            <a:r>
              <a:rPr lang="es-ES" dirty="0"/>
              <a:t>Memoria del Computador. Jerarquía de la memoria: Principio de localidad. Memoria cache: diseño. Bus del procesador, conexión</a:t>
            </a:r>
          </a:p>
          <a:p>
            <a:pPr lvl="1"/>
            <a:r>
              <a:rPr lang="en-US" dirty="0"/>
              <a:t>CPU/cache/</a:t>
            </a:r>
            <a:r>
              <a:rPr lang="en-US" dirty="0" err="1"/>
              <a:t>memoria</a:t>
            </a:r>
            <a:r>
              <a:rPr lang="en-US" dirty="0"/>
              <a:t>.</a:t>
            </a:r>
          </a:p>
          <a:p>
            <a:pPr lvl="1"/>
            <a:r>
              <a:rPr lang="en-US" b="1" dirty="0"/>
              <a:t>Entrada y </a:t>
            </a:r>
            <a:r>
              <a:rPr lang="en-US" b="1" dirty="0" err="1"/>
              <a:t>salida</a:t>
            </a:r>
            <a:endParaRPr lang="en-US" b="1" dirty="0"/>
          </a:p>
          <a:p>
            <a:pPr lvl="2"/>
            <a:r>
              <a:rPr lang="en-US" dirty="0" err="1"/>
              <a:t>Jerarquía</a:t>
            </a:r>
            <a:r>
              <a:rPr lang="en-US" dirty="0"/>
              <a:t> de buses y </a:t>
            </a:r>
            <a:r>
              <a:rPr lang="en-US" dirty="0" err="1"/>
              <a:t>arquitectura</a:t>
            </a:r>
            <a:r>
              <a:rPr lang="en-US" dirty="0"/>
              <a:t> de </a:t>
            </a:r>
            <a:r>
              <a:rPr lang="en-US" dirty="0" err="1"/>
              <a:t>periféricos</a:t>
            </a:r>
            <a:endParaRPr lang="en-US" dirty="0"/>
          </a:p>
          <a:p>
            <a:r>
              <a:rPr lang="en-US" b="1" dirty="0"/>
              <a:t>HPC y CMP</a:t>
            </a:r>
          </a:p>
          <a:p>
            <a:pPr lvl="1"/>
            <a:r>
              <a:rPr lang="es-ES" dirty="0"/>
              <a:t>Taxonomía del paralelismo y las arquitecturas paralelas. Paralelismo espacial y temporal. Medidas de rendimiento. Arquitecturas de bus común.</a:t>
            </a:r>
          </a:p>
          <a:p>
            <a:pPr lvl="1"/>
            <a:r>
              <a:rPr lang="es-ES" dirty="0"/>
              <a:t>Consistencia de memoria y coherencia cache.</a:t>
            </a:r>
          </a:p>
          <a:p>
            <a:r>
              <a:rPr lang="es-ES" b="1" dirty="0"/>
              <a:t>Introducción a la computación cuántica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47343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Calendario lectivo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EB3A074-9B65-4FCB-BDEC-3D0B641123E2}"/>
              </a:ext>
            </a:extLst>
          </p:cNvPr>
          <p:cNvSpPr txBox="1"/>
          <p:nvPr/>
        </p:nvSpPr>
        <p:spPr>
          <a:xfrm>
            <a:off x="395536" y="1628800"/>
            <a:ext cx="8534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https://casium.uma.es/calendario/getCalendar?mes=9&amp;filas=2&amp;grupo=0&amp;plano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3FAE1DC8-9FB2-4AD5-A4E5-4AD5CEB3E9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714" y="2132856"/>
            <a:ext cx="8712222" cy="392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904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5F88C-C46A-4064-936B-C6E65DA5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Planificación detallada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B6B8DE-C4D2-4FDF-BB6D-D981B08462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8411" b="41006"/>
          <a:stretch/>
        </p:blipFill>
        <p:spPr>
          <a:xfrm>
            <a:off x="461225" y="1844824"/>
            <a:ext cx="8339836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54303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E5F88C-C46A-4064-936B-C6E65DA5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Planificación detallada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18B6B8DE-C4D2-4FDF-BB6D-D981B084629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935" t="60207" r="9646" b="-2554"/>
          <a:stretch/>
        </p:blipFill>
        <p:spPr>
          <a:xfrm>
            <a:off x="319602" y="1844824"/>
            <a:ext cx="8239829" cy="2664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0571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CD1AC7-1036-4631-96D7-3915C8D3A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Herramientas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B128483-14E0-419D-A99C-5B612375638C}"/>
              </a:ext>
            </a:extLst>
          </p:cNvPr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ES" sz="2400" dirty="0"/>
              <a:t>Lenguajes: C, C++, C#, </a:t>
            </a:r>
            <a:r>
              <a:rPr lang="es-ES" sz="2400" dirty="0" err="1"/>
              <a:t>Kotlin</a:t>
            </a:r>
            <a:r>
              <a:rPr lang="es-ES" sz="2400" dirty="0"/>
              <a:t>, Python</a:t>
            </a:r>
          </a:p>
          <a:p>
            <a:r>
              <a:rPr lang="es-ES" sz="2400" dirty="0"/>
              <a:t>Desarrollo de código: </a:t>
            </a:r>
            <a:r>
              <a:rPr lang="es-ES" sz="2400" dirty="0" err="1"/>
              <a:t>git</a:t>
            </a:r>
            <a:r>
              <a:rPr lang="es-ES" sz="2400" dirty="0"/>
              <a:t>, </a:t>
            </a:r>
            <a:r>
              <a:rPr lang="es-ES" sz="2400" dirty="0" err="1"/>
              <a:t>vscode</a:t>
            </a:r>
            <a:r>
              <a:rPr lang="es-ES" sz="2400" dirty="0"/>
              <a:t>, </a:t>
            </a:r>
            <a:r>
              <a:rPr lang="es-ES" sz="2400" dirty="0" err="1"/>
              <a:t>copilot</a:t>
            </a:r>
            <a:endParaRPr lang="es-ES" sz="2400" dirty="0"/>
          </a:p>
          <a:p>
            <a:r>
              <a:rPr lang="es-ES" sz="2400" dirty="0"/>
              <a:t>Arquitecturas IoT: </a:t>
            </a:r>
            <a:r>
              <a:rPr lang="es-ES" sz="2400" dirty="0" err="1"/>
              <a:t>mqtt</a:t>
            </a:r>
            <a:r>
              <a:rPr lang="es-ES" sz="2400" dirty="0"/>
              <a:t>, n8n</a:t>
            </a:r>
          </a:p>
          <a:p>
            <a:r>
              <a:rPr lang="es-ES" sz="2400" dirty="0"/>
              <a:t>Arquitecturas móviles: Android</a:t>
            </a:r>
          </a:p>
          <a:p>
            <a:r>
              <a:rPr lang="es-ES" sz="2400" dirty="0"/>
              <a:t>Desarrollo web: </a:t>
            </a:r>
            <a:r>
              <a:rPr lang="es-ES" sz="2400" dirty="0" err="1"/>
              <a:t>php</a:t>
            </a:r>
            <a:r>
              <a:rPr lang="es-ES" sz="2400" dirty="0"/>
              <a:t>, </a:t>
            </a:r>
            <a:r>
              <a:rPr lang="es-ES" sz="2400" dirty="0" err="1"/>
              <a:t>javascript</a:t>
            </a:r>
            <a:endParaRPr lang="es-ES" sz="2400" dirty="0"/>
          </a:p>
          <a:p>
            <a:r>
              <a:rPr lang="es-ES" sz="2400" dirty="0"/>
              <a:t>Microcontroladores basados en arquitecturas </a:t>
            </a:r>
            <a:r>
              <a:rPr lang="es-ES" sz="2400" dirty="0" err="1"/>
              <a:t>RiscV</a:t>
            </a:r>
            <a:endParaRPr lang="es-ES" sz="2400" dirty="0"/>
          </a:p>
          <a:p>
            <a:r>
              <a:rPr lang="es-ES" sz="2400" dirty="0"/>
              <a:t>Placas de desarrollo y </a:t>
            </a:r>
            <a:r>
              <a:rPr lang="es-ES" sz="2400" dirty="0" err="1"/>
              <a:t>perfboards</a:t>
            </a:r>
            <a:endParaRPr lang="es-ES" sz="2400" dirty="0"/>
          </a:p>
          <a:p>
            <a:r>
              <a:rPr lang="es-ES" sz="2400" dirty="0"/>
              <a:t>Comunicaciones: Wifi, Bluetooth, BLE, </a:t>
            </a:r>
            <a:r>
              <a:rPr lang="es-ES" sz="2400" dirty="0" err="1"/>
              <a:t>LoRa</a:t>
            </a:r>
            <a:endParaRPr lang="es-ES" sz="2400" dirty="0"/>
          </a:p>
        </p:txBody>
      </p:sp>
    </p:spTree>
    <p:extLst>
      <p:ext uri="{BB962C8B-B14F-4D97-AF65-F5344CB8AC3E}">
        <p14:creationId xmlns:p14="http://schemas.microsoft.com/office/powerpoint/2010/main" val="1495471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03" t="7842" r="15189" b="18237"/>
          <a:stretch/>
        </p:blipFill>
        <p:spPr bwMode="auto">
          <a:xfrm>
            <a:off x="0" y="0"/>
            <a:ext cx="9287412" cy="6309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221497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Q&amp;A</a:t>
            </a: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dirty="0"/>
              <a:t>FAQ</a:t>
            </a:r>
          </a:p>
          <a:p>
            <a:pPr lvl="1"/>
            <a:r>
              <a:rPr lang="en-US" dirty="0"/>
              <a:t>¿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qué</a:t>
            </a:r>
            <a:r>
              <a:rPr lang="en-US" dirty="0"/>
              <a:t> </a:t>
            </a:r>
            <a:r>
              <a:rPr lang="en-US" dirty="0" err="1"/>
              <a:t>consiste</a:t>
            </a:r>
            <a:r>
              <a:rPr lang="en-US" dirty="0"/>
              <a:t> el </a:t>
            </a:r>
            <a:r>
              <a:rPr lang="en-US" dirty="0" err="1"/>
              <a:t>examen</a:t>
            </a:r>
            <a:r>
              <a:rPr lang="en-US" dirty="0"/>
              <a:t> final?</a:t>
            </a:r>
          </a:p>
          <a:p>
            <a:pPr lvl="1"/>
            <a:r>
              <a:rPr lang="en-US" dirty="0"/>
              <a:t>¿</a:t>
            </a:r>
            <a:r>
              <a:rPr lang="en-US" dirty="0" err="1"/>
              <a:t>Dónde</a:t>
            </a:r>
            <a:r>
              <a:rPr lang="en-US" dirty="0"/>
              <a:t> </a:t>
            </a:r>
            <a:r>
              <a:rPr lang="en-US" dirty="0" err="1"/>
              <a:t>encuentro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información</a:t>
            </a:r>
            <a:r>
              <a:rPr lang="en-US" dirty="0"/>
              <a:t>?</a:t>
            </a:r>
          </a:p>
          <a:p>
            <a:pPr lvl="2"/>
            <a:r>
              <a:rPr lang="es-ES" dirty="0">
                <a:hlinkClick r:id="rId2"/>
              </a:rPr>
              <a:t>https://eii.cv.uma.es/course/view.php?id=193</a:t>
            </a:r>
            <a:endParaRPr lang="es-ES" dirty="0"/>
          </a:p>
          <a:p>
            <a:pPr lvl="2"/>
            <a:r>
              <a:rPr lang="es-ES" dirty="0">
                <a:hlinkClick r:id="rId3"/>
              </a:rPr>
              <a:t>https://github.com/luisfromero/arqcom</a:t>
            </a:r>
            <a:r>
              <a:rPr lang="es-ES" dirty="0"/>
              <a:t> </a:t>
            </a:r>
          </a:p>
          <a:p>
            <a:pPr lvl="2"/>
            <a:r>
              <a:rPr lang="en-US" dirty="0">
                <a:hlinkClick r:id="rId4"/>
              </a:rPr>
              <a:t>felipe@uma.es</a:t>
            </a:r>
            <a:endParaRPr lang="en-US" dirty="0"/>
          </a:p>
          <a:p>
            <a:pPr lvl="2"/>
            <a:r>
              <a:rPr lang="en-US" dirty="0"/>
              <a:t>952134169 (</a:t>
            </a:r>
            <a:r>
              <a:rPr lang="en-US" dirty="0" err="1"/>
              <a:t>también</a:t>
            </a:r>
            <a:r>
              <a:rPr lang="en-US" dirty="0"/>
              <a:t> </a:t>
            </a:r>
            <a:r>
              <a:rPr lang="en-US" dirty="0" err="1"/>
              <a:t>whatsapp</a:t>
            </a:r>
            <a:r>
              <a:rPr lang="en-US" dirty="0"/>
              <a:t>, 656358240)</a:t>
            </a:r>
          </a:p>
          <a:p>
            <a:pPr lvl="2"/>
            <a:r>
              <a:rPr lang="en-US" dirty="0"/>
              <a:t>2.2.47 </a:t>
            </a:r>
            <a:r>
              <a:rPr lang="en-US" dirty="0" err="1"/>
              <a:t>en</a:t>
            </a:r>
            <a:r>
              <a:rPr lang="en-US" dirty="0"/>
              <a:t> </a:t>
            </a:r>
            <a:r>
              <a:rPr lang="en-US" dirty="0" err="1"/>
              <a:t>Teleco</a:t>
            </a:r>
            <a:endParaRPr lang="en-US" dirty="0"/>
          </a:p>
          <a:p>
            <a:pPr lvl="2"/>
            <a:r>
              <a:rPr lang="en-US" dirty="0"/>
              <a:t>2008.L1 </a:t>
            </a:r>
            <a:r>
              <a:rPr lang="en-US" dirty="0" err="1"/>
              <a:t>en</a:t>
            </a:r>
            <a:r>
              <a:rPr lang="en-US" dirty="0"/>
              <a:t> la EII</a:t>
            </a:r>
          </a:p>
          <a:p>
            <a:pPr marL="594360" lvl="2" indent="0">
              <a:buNone/>
            </a:pPr>
            <a:endParaRPr lang="en-US" dirty="0"/>
          </a:p>
          <a:p>
            <a:pPr marL="274320" lvl="1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04629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CE8D363D1A06C4A8E99892E111062E1" ma:contentTypeVersion="11" ma:contentTypeDescription="Crear nuevo documento." ma:contentTypeScope="" ma:versionID="bc7335ac6b45c3b24761353ffdff9b7a">
  <xsd:schema xmlns:xsd="http://www.w3.org/2001/XMLSchema" xmlns:xs="http://www.w3.org/2001/XMLSchema" xmlns:p="http://schemas.microsoft.com/office/2006/metadata/properties" xmlns:ns3="2d68f367-3448-4584-8be4-e5200f1a88eb" xmlns:ns4="b7216d0d-3061-4c5f-91f9-f9dbb705efc2" targetNamespace="http://schemas.microsoft.com/office/2006/metadata/properties" ma:root="true" ma:fieldsID="9890ec198a05d4ef84ee45e003419e1e" ns3:_="" ns4:_="">
    <xsd:import namespace="2d68f367-3448-4584-8be4-e5200f1a88eb"/>
    <xsd:import namespace="b7216d0d-3061-4c5f-91f9-f9dbb705efc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DateTaken" minOccurs="0"/>
                <xsd:element ref="ns3:MediaServiceLocation" minOccurs="0"/>
                <xsd:element ref="ns3:MediaServiceOCR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d68f367-3448-4584-8be4-e5200f1a88e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1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Location" ma:index="12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16d0d-3061-4c5f-91f9-f9dbb705efc2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6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9A8E0AA-B776-4AB2-BDEB-3AFAC6847E8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DE7AE15-D3B5-418C-AB01-AAE87B4DC314}">
  <ds:schemaRefs>
    <ds:schemaRef ds:uri="http://www.w3.org/XML/1998/namespace"/>
    <ds:schemaRef ds:uri="http://purl.org/dc/elements/1.1/"/>
    <ds:schemaRef ds:uri="b7216d0d-3061-4c5f-91f9-f9dbb705efc2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2d68f367-3448-4584-8be4-e5200f1a88eb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0B4BF2B3-C642-4EE1-807E-EFF9AA35900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d68f367-3448-4584-8be4-e5200f1a88eb"/>
    <ds:schemaRef ds:uri="b7216d0d-3061-4c5f-91f9-f9dbb705efc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Civic</Template>
  <TotalTime>428</TotalTime>
  <Words>384</Words>
  <Application>Microsoft Office PowerPoint</Application>
  <PresentationFormat>Presentación en pantalla (4:3)</PresentationFormat>
  <Paragraphs>61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Georgia</vt:lpstr>
      <vt:lpstr>Wingdings</vt:lpstr>
      <vt:lpstr>Wingdings 2</vt:lpstr>
      <vt:lpstr>Civil</vt:lpstr>
      <vt:lpstr>Arquitectura de Computadores Ingeniería en Tecnologías Industriales</vt:lpstr>
      <vt:lpstr>Guía docente</vt:lpstr>
      <vt:lpstr>Programa</vt:lpstr>
      <vt:lpstr>Calendario lectivo</vt:lpstr>
      <vt:lpstr>Planificación detallada</vt:lpstr>
      <vt:lpstr>Planificación detallada</vt:lpstr>
      <vt:lpstr>Herramientas</vt:lpstr>
      <vt:lpstr>Presentación de PowerPoint</vt:lpstr>
      <vt:lpstr>Q&amp;A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Arquitectura de Computadores Ingeniería en Tecnologías Industriales</dc:title>
  <dc:creator>felipe</dc:creator>
  <cp:lastModifiedBy>Luis Felipe Romero</cp:lastModifiedBy>
  <cp:revision>31</cp:revision>
  <dcterms:created xsi:type="dcterms:W3CDTF">2013-10-01T07:30:59Z</dcterms:created>
  <dcterms:modified xsi:type="dcterms:W3CDTF">2026-09-10T07:57:15Z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0x0101004CE8D363D1A06C4A8E99892E111062E1</vt:lpwstr>
  </property>
</Properties>
</file>